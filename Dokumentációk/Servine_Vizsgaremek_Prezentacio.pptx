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96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4499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82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474720"/>
            <a:ext cx="1645920" cy="1645920"/>
          </a:xfrm>
          <a:prstGeom prst="ellipse">
            <a:avLst/>
          </a:prstGeom>
          <a:solidFill>
            <a:srgbClr val="555555">
              <a:alpha val="30000"/>
            </a:srgbClr>
          </a:solidFill>
          <a:ln w="12700">
            <a:solidFill>
              <a:srgbClr val="5555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2286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515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Webshop Vizsgaremek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ruházati, cipő- és illatszer webáruház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Node.js + MySQL full-stack alkalmazás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Jelencsity Miklós</a:t>
            </a: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Ács Norbert   •   Ács Benjámin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Tartalom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" cy="45720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1521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bemutatása &amp; Csapat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73936"/>
            <a:ext cx="502920" cy="45720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502920" cy="45720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50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5054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Rendszerarchitektúra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502920" cy="45720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27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1821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Adatbázis-terv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03904"/>
            <a:ext cx="502920" cy="45720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03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858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Funkciók – Felhasználói oldal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502920" cy="457200"/>
          </a:xfrm>
          <a:prstGeom prst="rect">
            <a:avLst/>
          </a:prstGeom>
          <a:solidFill>
            <a:srgbClr val="8A75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11521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Funkciók – Admin felület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773936"/>
            <a:ext cx="502920" cy="457200"/>
          </a:xfrm>
          <a:prstGeom prst="rect">
            <a:avLst/>
          </a:prstGeom>
          <a:solidFill>
            <a:srgbClr val="8A75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 &amp; Jogosultságkezelés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2450592"/>
            <a:ext cx="502920" cy="457200"/>
          </a:xfrm>
          <a:prstGeom prst="rect">
            <a:avLst/>
          </a:prstGeom>
          <a:solidFill>
            <a:srgbClr val="8A75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450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25054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3127248"/>
            <a:ext cx="502920" cy="457200"/>
          </a:xfrm>
          <a:prstGeom prst="rect">
            <a:avLst/>
          </a:prstGeom>
          <a:solidFill>
            <a:srgbClr val="8A75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127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31821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Fejlesztési módszertan &amp; Jira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803904"/>
            <a:ext cx="502920" cy="457200"/>
          </a:xfrm>
          <a:prstGeom prst="rect">
            <a:avLst/>
          </a:prstGeom>
          <a:solidFill>
            <a:srgbClr val="8A75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803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3858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Összefoglalás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Projekt bemutatása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Servine egy modern, full-stack webáruház platform, amely ruházati termékek, cipők és illatszerek online értékesítését teszi lehetővé.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Gyors, reszponzív működés minden eszközön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Átlátható vásárlási folyamat biztosítása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felület a rendszer kezelésére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Biztonságos adatkezelés és jogosultságkezelés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1005840" cy="1005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0" y="2377440"/>
            <a:ext cx="1737360" cy="822960"/>
          </a:xfrm>
          <a:prstGeom prst="rect">
            <a:avLst/>
          </a:prstGeom>
          <a:solidFill>
            <a:srgbClr val="1E1E1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94960" y="241401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fő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394960" y="28163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Csapattagok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0" y="2377440"/>
            <a:ext cx="1737360" cy="822960"/>
          </a:xfrm>
          <a:prstGeom prst="rect">
            <a:avLst/>
          </a:prstGeom>
          <a:solidFill>
            <a:srgbClr val="1E1E1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0" y="241401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15200" y="28163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Technológiák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94960" y="3383280"/>
            <a:ext cx="1737360" cy="822960"/>
          </a:xfrm>
          <a:prstGeom prst="rect">
            <a:avLst/>
          </a:prstGeom>
          <a:solidFill>
            <a:srgbClr val="1E1E1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960" y="341985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394960" y="3822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végpontok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0" y="3383280"/>
            <a:ext cx="1737360" cy="822960"/>
          </a:xfrm>
          <a:prstGeom prst="rect">
            <a:avLst/>
          </a:prstGeom>
          <a:solidFill>
            <a:srgbClr val="1E1E1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341985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db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315200" y="3822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táblák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 csapat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6060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43000"/>
            <a:ext cx="2606040" cy="41148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Jelencsity Miklós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201168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fejlesztő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331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Express.js szerver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tervezés és fejlesztés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adatbázis kezelés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autentikáció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szolgáltatás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6060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143000"/>
            <a:ext cx="2606040" cy="411480"/>
          </a:xfrm>
          <a:prstGeom prst="rect">
            <a:avLst/>
          </a:prstGeom>
          <a:solidFill>
            <a:srgbClr val="8A7540"/>
          </a:solidFill>
          <a:ln w="12700">
            <a:solidFill>
              <a:srgbClr val="8A75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00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Ács Norbert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2057400"/>
            <a:ext cx="201168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fejlesztő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423160"/>
            <a:ext cx="2331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felhasználói felület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Profil, </a:t>
            </a:r>
            <a:r>
              <a:rPr lang="en-US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kosár</a:t>
            </a:r>
            <a:r>
              <a:rPr lang="hu-HU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nézet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Termékböngészés &amp; szűrés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Reszponzív dizájn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PrimeNG komponensek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143000"/>
            <a:ext cx="26060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143000"/>
            <a:ext cx="260604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600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Ács Benjámin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2057400"/>
            <a:ext cx="201168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Tesztelés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2331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felület fejlesztése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Készletkezelés modul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Statisztikák &amp; Chart.js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Funkcionális tesztelés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Dokumentáció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737360"/>
          </a:xfrm>
          <a:prstGeom prst="rect">
            <a:avLst/>
          </a:prstGeom>
          <a:solidFill>
            <a:srgbClr val="161616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   •   TypeScript   •   HTML5 / </a:t>
            </a:r>
            <a:r>
              <a:rPr lang="hu-HU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SCSS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Bootstrap   •   PrimeNG   •   Chart.js   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3931920" cy="1737360"/>
          </a:xfrm>
          <a:prstGeom prst="rect">
            <a:avLst/>
          </a:prstGeom>
          <a:solidFill>
            <a:srgbClr val="161616"/>
          </a:solidFill>
          <a:ln w="19050">
            <a:solidFill>
              <a:srgbClr val="1818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234440"/>
            <a:ext cx="3931920" cy="347472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 •   Express.js   •   REST API   •   bcrypt (jelszóhash)   •   JWT autentikáció   •   Nodemailer / EJS   •   MySQL2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3931920" cy="1737360"/>
          </a:xfrm>
          <a:prstGeom prst="rect">
            <a:avLst/>
          </a:prstGeom>
          <a:solidFill>
            <a:srgbClr val="161616"/>
          </a:solidFill>
          <a:ln w="19050">
            <a:solidFill>
              <a:srgbClr val="8A75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3931920" cy="347472"/>
          </a:xfrm>
          <a:prstGeom prst="rect">
            <a:avLst/>
          </a:prstGeom>
          <a:solidFill>
            <a:srgbClr val="8A7540"/>
          </a:solidFill>
          <a:ln w="12700">
            <a:solidFill>
              <a:srgbClr val="8A7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54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566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MySQL•   Sequelize ORM   •   6 tábla struktúra   •   Foreign key korlátok   •   Cascade törlés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154680"/>
            <a:ext cx="3931920" cy="1737360"/>
          </a:xfrm>
          <a:prstGeom prst="rect">
            <a:avLst/>
          </a:prstGeom>
          <a:solidFill>
            <a:srgbClr val="161616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3154680"/>
            <a:ext cx="39319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154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Eszközök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  •   Jira (Scrum)   •   Visual Studio Code   •   </a:t>
            </a:r>
            <a:r>
              <a:rPr lang="hu-HU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(API test)   •   phpMyAdmin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Rendszerarchitektúra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Böngésző / Kliens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5361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SPA – TypeScript, HTML, SCSS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874520"/>
            <a:ext cx="274320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03120"/>
            <a:ext cx="7680960" cy="685800"/>
          </a:xfrm>
          <a:prstGeom prst="rect">
            <a:avLst/>
          </a:prstGeom>
          <a:solidFill>
            <a:srgbClr val="8A7540"/>
          </a:solidFill>
          <a:ln w="12700">
            <a:solidFill>
              <a:srgbClr val="8A7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réteg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450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Komponensek • Szolgáltatások • HTTP interceptor • Route guards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2788920"/>
            <a:ext cx="274320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017520"/>
            <a:ext cx="7680960" cy="68580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réteg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3649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• Controllers • Middlewares • Routes • JWT Auth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3703320"/>
            <a:ext cx="274320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931920"/>
            <a:ext cx="7680960" cy="685800"/>
          </a:xfrm>
          <a:prstGeom prst="rect">
            <a:avLst/>
          </a:prstGeom>
          <a:solidFill>
            <a:srgbClr val="8A7540"/>
          </a:solidFill>
          <a:ln w="12700">
            <a:solidFill>
              <a:srgbClr val="8A7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 réteg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2793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• Sequelize ORM • 6 tábla relációs modell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Adatbázis-terv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2651760" cy="1828800"/>
          </a:xfrm>
          <a:prstGeom prst="rect">
            <a:avLst/>
          </a:prstGeom>
          <a:solidFill>
            <a:srgbClr val="111111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43000"/>
            <a:ext cx="265176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86484"/>
            <a:ext cx="2468880" cy="125272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hu-HU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</a:t>
            </a:r>
            <a:endParaRPr lang="hu-HU" sz="1000" dirty="0">
              <a:solidFill>
                <a:srgbClr val="CCCC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phone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hu-HU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0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ddress</a:t>
            </a:r>
            <a:endParaRPr lang="hu-HU" sz="1000" dirty="0">
              <a:solidFill>
                <a:srgbClr val="CCCC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createdAt</a:t>
            </a:r>
            <a:endParaRPr lang="hu-HU" sz="1000" dirty="0">
              <a:solidFill>
                <a:srgbClr val="CCCCC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updatedAt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651760" cy="1828800"/>
          </a:xfrm>
          <a:prstGeom prst="rect">
            <a:avLst/>
          </a:prstGeom>
          <a:solidFill>
            <a:srgbClr val="111111"/>
          </a:solidFill>
          <a:ln w="19050">
            <a:solidFill>
              <a:srgbClr val="8A75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143000"/>
            <a:ext cx="2651760" cy="347472"/>
          </a:xfrm>
          <a:prstGeom prst="rect">
            <a:avLst/>
          </a:prstGeom>
          <a:solidFill>
            <a:srgbClr val="8A7540"/>
          </a:solidFill>
          <a:ln w="12700">
            <a:solidFill>
              <a:srgbClr val="8A7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143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52704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parent_id (FK→self)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hu-HU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0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hu-HU" sz="1000" dirty="0">
              <a:solidFill>
                <a:srgbClr val="CCCC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createdAt</a:t>
            </a:r>
            <a:endParaRPr lang="hu-HU" sz="1000" dirty="0">
              <a:solidFill>
                <a:srgbClr val="CCCCC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updatedAt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143000"/>
            <a:ext cx="2651760" cy="1828800"/>
          </a:xfrm>
          <a:prstGeom prst="rect">
            <a:avLst/>
          </a:prstGeom>
          <a:solidFill>
            <a:srgbClr val="111111"/>
          </a:solidFill>
          <a:ln w="19050">
            <a:solidFill>
              <a:srgbClr val="1818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143000"/>
            <a:ext cx="2651760" cy="347472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143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52704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 (FK)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hu-HU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0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hu-HU" sz="1000" dirty="0">
              <a:solidFill>
                <a:srgbClr val="CCCC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description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hu-HU" sz="1000" dirty="0">
              <a:solidFill>
                <a:srgbClr val="CCCC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createdAt</a:t>
            </a:r>
            <a:endParaRPr lang="hu-HU" sz="1000" dirty="0">
              <a:solidFill>
                <a:srgbClr val="CCCCC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updatedAt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108960"/>
            <a:ext cx="2651760" cy="1828800"/>
          </a:xfrm>
          <a:prstGeom prst="rect">
            <a:avLst/>
          </a:prstGeom>
          <a:solidFill>
            <a:srgbClr val="111111"/>
          </a:solidFill>
          <a:ln w="19050">
            <a:solidFill>
              <a:srgbClr val="8A75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108960"/>
            <a:ext cx="2651760" cy="347472"/>
          </a:xfrm>
          <a:prstGeom prst="rect">
            <a:avLst/>
          </a:prstGeom>
          <a:solidFill>
            <a:srgbClr val="8A7540"/>
          </a:solidFill>
          <a:ln w="12700">
            <a:solidFill>
              <a:srgbClr val="8A7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49300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total_price</a:t>
            </a:r>
            <a:endParaRPr lang="hu-HU" sz="1000" dirty="0">
              <a:solidFill>
                <a:srgbClr val="CCCC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createdAt</a:t>
            </a:r>
            <a:endParaRPr lang="hu-HU" sz="1000" dirty="0">
              <a:solidFill>
                <a:srgbClr val="CCCCC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updatedAt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108960"/>
            <a:ext cx="2651760" cy="1828800"/>
          </a:xfrm>
          <a:prstGeom prst="rect">
            <a:avLst/>
          </a:prstGeom>
          <a:solidFill>
            <a:srgbClr val="111111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108960"/>
            <a:ext cx="26517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49300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(FK)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(FK)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hu-HU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hu-HU" sz="1000" dirty="0">
              <a:solidFill>
                <a:srgbClr val="CCCC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hu-HU" sz="1000" dirty="0">
              <a:solidFill>
                <a:srgbClr val="CCCC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updatedAt</a:t>
            </a:r>
            <a:endParaRPr lang="hu-HU" sz="1000" dirty="0">
              <a:solidFill>
                <a:srgbClr val="CCCC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72200" y="3108960"/>
            <a:ext cx="2651760" cy="1828800"/>
          </a:xfrm>
          <a:prstGeom prst="rect">
            <a:avLst/>
          </a:prstGeom>
          <a:solidFill>
            <a:srgbClr val="111111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108960"/>
            <a:ext cx="265176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49300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(FK)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hu-HU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0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omment</a:t>
            </a:r>
            <a:endParaRPr lang="hu-HU" sz="1000" dirty="0">
              <a:solidFill>
                <a:srgbClr val="CCCC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createdAt</a:t>
            </a:r>
            <a:endParaRPr lang="hu-HU" sz="1000" dirty="0">
              <a:solidFill>
                <a:srgbClr val="CCCCC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00" dirty="0" err="1">
                <a:solidFill>
                  <a:srgbClr val="CCCCCC"/>
                </a:solidFill>
                <a:latin typeface="Calibri" pitchFamily="34" charset="0"/>
                <a:cs typeface="Calibri" pitchFamily="34" charset="-120"/>
              </a:rPr>
              <a:t>updatedAt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Felhasználói funkciók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Hitelesítés &amp; Profil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80136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Regisztráció &amp; bejelentkezés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adatok szerkesztése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00600" y="114300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258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50408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Termékböngészés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0" y="180136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Kategória alapú böngészés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Szűrés &amp; rendezés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Részletes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termékoldal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97180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Kosár &amp; Rendelés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85800" y="363016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Kosárba helyezés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Mennyiség módosítása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Szállítási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adatok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00600" y="297180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1546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50408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Értékelési rendszer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029200" y="363016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csillagos értékelés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Szöveges vélemény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Termékhez kötve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Felhasználóhoz kötve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Admin felület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2651760" cy="1737360"/>
          </a:xfrm>
          <a:prstGeom prst="rect">
            <a:avLst/>
          </a:prstGeom>
          <a:solidFill>
            <a:srgbClr val="11111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43000"/>
            <a:ext cx="54864" cy="1737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Termékkezelés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Termékek létrehozása/törlése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Készlet módosítása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Képfeltöltés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kezelés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651760" cy="1737360"/>
          </a:xfrm>
          <a:prstGeom prst="rect">
            <a:avLst/>
          </a:prstGeom>
          <a:solidFill>
            <a:srgbClr val="11111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143000"/>
            <a:ext cx="54864" cy="1737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234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Kategóriakezelés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64592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Kategóriák CRUD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Hierarchikus struktúra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Szülő-gyermek kapcsolat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143000"/>
            <a:ext cx="2651760" cy="1737360"/>
          </a:xfrm>
          <a:prstGeom prst="rect">
            <a:avLst/>
          </a:prstGeom>
          <a:solidFill>
            <a:srgbClr val="11111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143000"/>
            <a:ext cx="54864" cy="1737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234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Rendelések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64592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Rendelések listázása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Státusz módosítás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Rendelési tételek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Szűrés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cím szerint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50136" y="3063240"/>
            <a:ext cx="2651760" cy="1737360"/>
          </a:xfrm>
          <a:prstGeom prst="rect">
            <a:avLst/>
          </a:prstGeom>
          <a:solidFill>
            <a:srgbClr val="11111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50136" y="3063240"/>
            <a:ext cx="54864" cy="1737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33016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33016" y="356616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 listája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Szerepkör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kezelés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30496" y="3063240"/>
            <a:ext cx="2651760" cy="1737360"/>
          </a:xfrm>
          <a:prstGeom prst="rect">
            <a:avLst/>
          </a:prstGeom>
          <a:solidFill>
            <a:srgbClr val="11111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30496" y="3063240"/>
            <a:ext cx="54864" cy="1737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3376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Statisztikák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3376" y="356616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Bevételi kimutatás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</a:t>
            </a: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grafikonok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Biztonság &amp; Jogosultságkezelés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441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Autentikáció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59105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 alapú stateless autentikáció. A token 24 óráig érvényes, minden API kérésnél ellenőrzésre kerül az Authorization </a:t>
            </a:r>
            <a:r>
              <a:rPr lang="hu-HU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messageService-ből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25856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76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Jelszóhash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50545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felhasználók jelszavai bcrypt hash algoritmussal kerülnek tárolásra. A nyers jelszó sosem kerül az adatbázisba.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7296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906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Role-alapú jogosultság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41985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Kétféle szerepkör: user és admin. Az admin útvonalak külön middleware-rel védve, jogosulatlan hozzáférés 403-as hibával elutasítva.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8736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005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Adat-validáció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33425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 oldali bemeneti validáció minden végponton. Hibás adatok esetén informatív hibaüzenetek kerülnek visszaküldésre.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Tesztelés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2697480" cy="3749040"/>
          </a:xfrm>
          <a:prstGeom prst="rect">
            <a:avLst/>
          </a:prstGeom>
          <a:solidFill>
            <a:srgbClr val="111111"/>
          </a:solidFill>
          <a:ln w="19050">
            <a:solidFill>
              <a:srgbClr val="1818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43000"/>
            <a:ext cx="2697480" cy="384048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143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Funkcionális tesztelés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1572768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Regisztráció &amp; bejelentkezés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Termékböngészés &amp; szűrők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Kosár műveletek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Rendelési folyamat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 műveletek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697480" cy="3749040"/>
          </a:xfrm>
          <a:prstGeom prst="rect">
            <a:avLst/>
          </a:prstGeom>
          <a:solidFill>
            <a:srgbClr val="111111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143000"/>
            <a:ext cx="26974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143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tesztelés (Postman / REST)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572768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végpontok (login, register)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Termék, kategória végpontok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Rendelés kezelő végpontok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 profil végpontok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Szerepkör-ellenőrzés (403 tesztek)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143000"/>
            <a:ext cx="2697480" cy="3749040"/>
          </a:xfrm>
          <a:prstGeom prst="rect">
            <a:avLst/>
          </a:prstGeom>
          <a:solidFill>
            <a:srgbClr val="111111"/>
          </a:solidFill>
          <a:ln w="19050">
            <a:solidFill>
              <a:srgbClr val="8A75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143000"/>
            <a:ext cx="2697480" cy="384048"/>
          </a:xfrm>
          <a:prstGeom prst="rect">
            <a:avLst/>
          </a:prstGeom>
          <a:solidFill>
            <a:srgbClr val="8A7540"/>
          </a:solidFill>
          <a:ln w="12700">
            <a:solidFill>
              <a:srgbClr val="8A7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1143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Reszponzív tesztelés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1928" y="1572768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nézet (360px–480px)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nézet (768px–1024px)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nézet (1280px+)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töréspontok ellenőrzése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Fejlesztési módszertan &amp; Jira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840480" cy="384048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Scrumban módszertan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csapat Scrumban módszertant alkalmazott, amely kombinálja a Scrum sprint-alapú tervezését a Kanban folyamatos áramlásával.
</a:t>
            </a: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Verziókezelés: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– pull request alapú workflow
</a:t>
            </a: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Feladatkezelés: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– sprint board, backlog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43000"/>
            <a:ext cx="402336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43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Epic-ek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1645920"/>
            <a:ext cx="164592" cy="41148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691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tervezés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249424"/>
            <a:ext cx="164592" cy="411480"/>
          </a:xfrm>
          <a:prstGeom prst="rect">
            <a:avLst/>
          </a:prstGeom>
          <a:solidFill>
            <a:srgbClr val="8A7540"/>
          </a:solidFill>
          <a:ln w="12700">
            <a:solidFill>
              <a:srgbClr val="8A7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2951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adatbázis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2852928"/>
            <a:ext cx="164592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8986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(Angular)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3456432"/>
            <a:ext cx="164592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5021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felület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4059936"/>
            <a:ext cx="164592" cy="411480"/>
          </a:xfrm>
          <a:prstGeom prst="rect">
            <a:avLst/>
          </a:prstGeom>
          <a:solidFill>
            <a:srgbClr val="8A7540"/>
          </a:solidFill>
          <a:ln w="12700">
            <a:solidFill>
              <a:srgbClr val="8A75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41056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 &amp; dokumentáció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181818">
              <a:alpha val="20000"/>
            </a:srgbClr>
          </a:solidFill>
          <a:ln w="12700">
            <a:solidFill>
              <a:srgbClr val="18181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Összefoglalás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772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full-stack webáruház Angular + Node.js + MySQL technológiával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vásárlói élmény: regisztrációtól a </a:t>
            </a:r>
            <a:r>
              <a:rPr lang="en-US" sz="15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</a:t>
            </a:r>
            <a:r>
              <a:rPr lang="hu-HU" sz="15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ésig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Biztonságos hitelesítés JWT + bcrypt kombinációval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Átfogó admin felület termék-, rendelés- és felhasználókezeléshez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Reszponzív, mobil-kompatibilis Angular alapú SPA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Agilis fejlesztési módszertan Jira + GitHub eszközökkel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78638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Jelencsity Miklós   •   Ács Norbert   •   Ács Benjámin</a:t>
            </a: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Servine Webshop Vizsgaremek   •   2026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474720"/>
            <a:ext cx="1645920" cy="1645920"/>
          </a:xfrm>
          <a:prstGeom prst="ellipse">
            <a:avLst/>
          </a:prstGeom>
          <a:solidFill>
            <a:srgbClr val="555555">
              <a:alpha val="30000"/>
            </a:srgbClr>
          </a:solidFill>
          <a:ln w="12700">
            <a:solidFill>
              <a:srgbClr val="5555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2286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3034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52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Köszönjük</a:t>
            </a:r>
          </a:p>
          <a:p>
            <a:pPr marL="0" indent="0">
              <a:buNone/>
            </a:pPr>
            <a:r>
              <a:rPr lang="hu-HU" sz="5200" b="1" kern="0" spc="1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 figyelmet!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523173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Webshop Vizsgaremek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851785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ruházati, cipő- és illatszer webáruház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Node.js + MySQL full-stack alkalmazás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Jelencsity Miklós</a:t>
            </a: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Ács Norbert   •   Ács Benjámin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60013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840</Words>
  <Application>Microsoft Office PowerPoint</Application>
  <PresentationFormat>Diavetítés a képernyőre (16:9 oldalarány)</PresentationFormat>
  <Paragraphs>236</Paragraphs>
  <Slides>14</Slides>
  <Notes>14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Servine Webshop – Vizsgaremek Prezentáció</dc:title>
  <dc:subject>PptxGenJS Presentation</dc:subject>
  <dc:creator>PptxGenJS</dc:creator>
  <cp:lastModifiedBy>Ács Benjámin</cp:lastModifiedBy>
  <cp:revision>4</cp:revision>
  <dcterms:created xsi:type="dcterms:W3CDTF">2026-04-26T18:54:31Z</dcterms:created>
  <dcterms:modified xsi:type="dcterms:W3CDTF">2026-04-27T08:59:16Z</dcterms:modified>
</cp:coreProperties>
</file>